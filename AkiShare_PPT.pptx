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Calibri" panose="020F0502020204030204" pitchFamily="34" charset="0"/>
      <p:regular r:id="rId10"/>
      <p:bold r:id="rId11"/>
      <p:italic r:id="rId12"/>
      <p:boldItalic r:id="rId13"/>
    </p:embeddedFont>
    <p:embeddedFont>
      <p:font typeface="Calibri Light" panose="020F0302020204030204" pitchFamily="34" charset="0"/>
      <p:regular r:id="rId14"/>
      <p:italic r:id="rId15"/>
    </p:embeddedFont>
    <p:embeddedFont>
      <p:font typeface="SF Pro Display" panose="00000500000000000000" pitchFamily="50"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21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466ED8-F6EA-4267-A52E-8D5CAF80310C}" type="datetimeFigureOut">
              <a:rPr lang="en-US" smtClean="0"/>
              <a:t>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372526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466ED8-F6EA-4267-A52E-8D5CAF80310C}" type="datetimeFigureOut">
              <a:rPr lang="en-US" smtClean="0"/>
              <a:t>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2533938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D466ED8-F6EA-4267-A52E-8D5CAF80310C}" type="datetimeFigureOut">
              <a:rPr lang="en-US" smtClean="0"/>
              <a:t>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3215422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D466ED8-F6EA-4267-A52E-8D5CAF80310C}" type="datetimeFigureOut">
              <a:rPr lang="en-US" smtClean="0"/>
              <a:t>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1491857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D466ED8-F6EA-4267-A52E-8D5CAF80310C}" type="datetimeFigureOut">
              <a:rPr lang="en-US" smtClean="0"/>
              <a:t>11/3/2024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265152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466ED8-F6EA-4267-A52E-8D5CAF80310C}" type="datetimeFigureOut">
              <a:rPr lang="en-US" smtClean="0"/>
              <a:t>11/3/2024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4061423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66ED8-F6EA-4267-A52E-8D5CAF80310C}" type="datetimeFigureOut">
              <a:rPr lang="en-US" smtClean="0"/>
              <a:t>11/3/2024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3568992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466ED8-F6EA-4267-A52E-8D5CAF80310C}" type="datetimeFigureOut">
              <a:rPr lang="en-US" smtClean="0"/>
              <a:t>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1734075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466ED8-F6EA-4267-A52E-8D5CAF80310C}" type="datetimeFigureOut">
              <a:rPr lang="en-US" smtClean="0"/>
              <a:t>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8493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466ED8-F6EA-4267-A52E-8D5CAF80310C}" type="datetimeFigureOut">
              <a:rPr lang="en-US" smtClean="0"/>
              <a:t>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311528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466ED8-F6EA-4267-A52E-8D5CAF80310C}" type="datetimeFigureOut">
              <a:rPr lang="en-US" smtClean="0"/>
              <a:t>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07441-82B9-42FB-A095-EC90744C5149}" type="slidenum">
              <a:rPr lang="en-US" smtClean="0"/>
              <a:t>‹#›</a:t>
            </a:fld>
            <a:endParaRPr lang="en-US"/>
          </a:p>
        </p:txBody>
      </p:sp>
    </p:spTree>
    <p:extLst>
      <p:ext uri="{BB962C8B-B14F-4D97-AF65-F5344CB8AC3E}">
        <p14:creationId xmlns:p14="http://schemas.microsoft.com/office/powerpoint/2010/main" val="2256437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66ED8-F6EA-4267-A52E-8D5CAF80310C}" type="datetimeFigureOut">
              <a:rPr lang="en-US" smtClean="0"/>
              <a:t>11/3/2024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D07441-82B9-42FB-A095-EC90744C5149}" type="slidenum">
              <a:rPr lang="en-US" smtClean="0"/>
              <a:t>‹#›</a:t>
            </a:fld>
            <a:endParaRPr lang="en-US"/>
          </a:p>
        </p:txBody>
      </p:sp>
    </p:spTree>
    <p:extLst>
      <p:ext uri="{BB962C8B-B14F-4D97-AF65-F5344CB8AC3E}">
        <p14:creationId xmlns:p14="http://schemas.microsoft.com/office/powerpoint/2010/main" val="2817951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1558213"/>
            <a:ext cx="12192000" cy="3312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39959" y="1847461"/>
            <a:ext cx="3984172" cy="1200329"/>
          </a:xfrm>
          <a:prstGeom prst="rect">
            <a:avLst/>
          </a:prstGeom>
          <a:noFill/>
        </p:spPr>
        <p:txBody>
          <a:bodyPr wrap="square" rtlCol="0">
            <a:spAutoFit/>
          </a:bodyPr>
          <a:lstStyle/>
          <a:p>
            <a:r>
              <a:rPr lang="en-US" sz="7200" b="1" dirty="0" smtClean="0">
                <a:solidFill>
                  <a:schemeClr val="bg1"/>
                </a:solidFill>
                <a:latin typeface="SF Pro Display" panose="00000500000000000000" pitchFamily="50" charset="0"/>
                <a:ea typeface="SF Pro Display" panose="00000500000000000000" pitchFamily="50" charset="0"/>
              </a:rPr>
              <a:t>AkiShare</a:t>
            </a:r>
            <a:endParaRPr lang="en-US" sz="7200" b="1" dirty="0">
              <a:solidFill>
                <a:schemeClr val="bg1"/>
              </a:solidFill>
              <a:latin typeface="SF Pro Display" panose="00000500000000000000" pitchFamily="50" charset="0"/>
              <a:ea typeface="SF Pro Display" panose="00000500000000000000" pitchFamily="50" charset="0"/>
            </a:endParaRPr>
          </a:p>
        </p:txBody>
      </p:sp>
      <p:sp>
        <p:nvSpPr>
          <p:cNvPr id="10" name="TextBox 9"/>
          <p:cNvSpPr txBox="1"/>
          <p:nvPr/>
        </p:nvSpPr>
        <p:spPr>
          <a:xfrm>
            <a:off x="139959" y="2841170"/>
            <a:ext cx="8677470"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A Minimalistic File-Sharing Application</a:t>
            </a:r>
            <a:endParaRPr lang="en-US" sz="2400" b="1" dirty="0">
              <a:solidFill>
                <a:schemeClr val="bg1"/>
              </a:solidFill>
              <a:latin typeface="SF Pro Display" panose="00000500000000000000" pitchFamily="50" charset="0"/>
              <a:ea typeface="SF Pro Display" panose="00000500000000000000" pitchFamily="50" charset="0"/>
            </a:endParaRPr>
          </a:p>
        </p:txBody>
      </p:sp>
      <p:sp>
        <p:nvSpPr>
          <p:cNvPr id="11" name="TextBox 10"/>
          <p:cNvSpPr txBox="1"/>
          <p:nvPr/>
        </p:nvSpPr>
        <p:spPr>
          <a:xfrm>
            <a:off x="139959" y="3251617"/>
            <a:ext cx="8677470" cy="1569660"/>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Computer Networks Assignment</a:t>
            </a:r>
          </a:p>
          <a:p>
            <a:endParaRPr lang="en-US" sz="2400" b="1" dirty="0" smtClean="0">
              <a:solidFill>
                <a:schemeClr val="bg1"/>
              </a:solidFill>
              <a:latin typeface="SF Pro Display" panose="00000500000000000000" pitchFamily="50" charset="0"/>
              <a:ea typeface="SF Pro Display" panose="00000500000000000000" pitchFamily="50" charset="0"/>
            </a:endParaRPr>
          </a:p>
          <a:p>
            <a:r>
              <a:rPr lang="en-US" sz="1600" b="1" dirty="0" err="1" smtClean="0">
                <a:solidFill>
                  <a:schemeClr val="bg1"/>
                </a:solidFill>
                <a:latin typeface="SF Pro Display" panose="00000500000000000000" pitchFamily="50" charset="0"/>
                <a:ea typeface="SF Pro Display" panose="00000500000000000000" pitchFamily="50" charset="0"/>
              </a:rPr>
              <a:t>Akhilesh</a:t>
            </a:r>
            <a:r>
              <a:rPr lang="en-US" sz="1600" b="1" dirty="0" smtClean="0">
                <a:solidFill>
                  <a:schemeClr val="bg1"/>
                </a:solidFill>
                <a:latin typeface="SF Pro Display" panose="00000500000000000000" pitchFamily="50" charset="0"/>
                <a:ea typeface="SF Pro Display" panose="00000500000000000000" pitchFamily="50" charset="0"/>
              </a:rPr>
              <a:t> R</a:t>
            </a:r>
          </a:p>
          <a:p>
            <a:r>
              <a:rPr lang="en-US" sz="1600" b="1" dirty="0" err="1" smtClean="0">
                <a:solidFill>
                  <a:schemeClr val="bg1"/>
                </a:solidFill>
                <a:latin typeface="SF Pro Display" panose="00000500000000000000" pitchFamily="50" charset="0"/>
                <a:ea typeface="SF Pro Display" panose="00000500000000000000" pitchFamily="50" charset="0"/>
              </a:rPr>
              <a:t>B.Tech</a:t>
            </a:r>
            <a:r>
              <a:rPr lang="en-US" sz="1600" b="1" dirty="0" smtClean="0">
                <a:solidFill>
                  <a:schemeClr val="bg1"/>
                </a:solidFill>
                <a:latin typeface="SF Pro Display" panose="00000500000000000000" pitchFamily="50" charset="0"/>
                <a:ea typeface="SF Pro Display" panose="00000500000000000000" pitchFamily="50" charset="0"/>
              </a:rPr>
              <a:t> ECE (CPS) – 126160001</a:t>
            </a:r>
          </a:p>
          <a:p>
            <a:r>
              <a:rPr lang="en-US" sz="1600" b="1" dirty="0" smtClean="0">
                <a:solidFill>
                  <a:schemeClr val="bg1"/>
                </a:solidFill>
                <a:latin typeface="SF Pro Display" panose="00000500000000000000" pitchFamily="50" charset="0"/>
                <a:ea typeface="SF Pro Display" panose="00000500000000000000" pitchFamily="50" charset="0"/>
              </a:rPr>
              <a:t>SASTRA DEEMED UNIVERSITY</a:t>
            </a:r>
            <a:endParaRPr lang="en-US" sz="1600" b="1" dirty="0">
              <a:solidFill>
                <a:schemeClr val="bg1"/>
              </a:solidFill>
              <a:latin typeface="SF Pro Display" panose="00000500000000000000" pitchFamily="50" charset="0"/>
              <a:ea typeface="SF Pro Display" panose="00000500000000000000" pitchFamily="50" charset="0"/>
            </a:endParaRPr>
          </a:p>
        </p:txBody>
      </p:sp>
      <p:pic>
        <p:nvPicPr>
          <p:cNvPr id="13" name="Picture 12"/>
          <p:cNvPicPr>
            <a:picLocks noChangeAspect="1"/>
          </p:cNvPicPr>
          <p:nvPr/>
        </p:nvPicPr>
        <p:blipFill rotWithShape="1">
          <a:blip r:embed="rId2"/>
          <a:srcRect l="3301" t="5562" r="2061" b="4353"/>
          <a:stretch/>
        </p:blipFill>
        <p:spPr>
          <a:xfrm>
            <a:off x="6422573" y="3890767"/>
            <a:ext cx="2136710" cy="1390261"/>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pic>
        <p:nvPicPr>
          <p:cNvPr id="14" name="Picture 13"/>
          <p:cNvPicPr>
            <a:picLocks noChangeAspect="1"/>
          </p:cNvPicPr>
          <p:nvPr/>
        </p:nvPicPr>
        <p:blipFill rotWithShape="1">
          <a:blip r:embed="rId3"/>
          <a:srcRect l="1390" t="3253" r="3152" b="2759"/>
          <a:stretch/>
        </p:blipFill>
        <p:spPr>
          <a:xfrm>
            <a:off x="9682068" y="3890767"/>
            <a:ext cx="2258006" cy="1397462"/>
          </a:xfrm>
          <a:prstGeom prst="roundRect">
            <a:avLst>
              <a:gd name="adj" fmla="val 12980"/>
            </a:avLst>
          </a:prstGeom>
          <a:ln>
            <a:noFill/>
          </a:ln>
          <a:effectLst>
            <a:outerShdw blurRad="76200" dist="38100" dir="7800000" algn="tl" rotWithShape="0">
              <a:srgbClr val="000000">
                <a:alpha val="40000"/>
              </a:srgbClr>
            </a:outerShdw>
            <a:reflection blurRad="6350" stA="50000" endA="300" endPos="55500" dist="508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p:cNvPicPr>
            <a:picLocks noChangeAspect="1"/>
          </p:cNvPicPr>
          <p:nvPr/>
        </p:nvPicPr>
        <p:blipFill rotWithShape="1">
          <a:blip r:embed="rId4"/>
          <a:srcRect l="3015" t="4892" r="4100" b="3823"/>
          <a:stretch/>
        </p:blipFill>
        <p:spPr>
          <a:xfrm>
            <a:off x="8042983" y="2332653"/>
            <a:ext cx="2397966" cy="3069771"/>
          </a:xfrm>
          <a:prstGeom prst="roundRect">
            <a:avLst>
              <a:gd name="adj" fmla="val 10673"/>
            </a:avLst>
          </a:prstGeom>
          <a:solidFill>
            <a:srgbClr val="FFFFFF"/>
          </a:solidFill>
          <a:ln w="76200" cap="sq">
            <a:solidFill>
              <a:srgbClr val="EAEAEA"/>
            </a:solidFill>
            <a:miter lim="800000"/>
          </a:ln>
          <a:effectLst>
            <a:reflection blurRad="6350" stA="50000" endA="275" endPos="40000" dist="1016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440179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Abstract</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414745" y="1427584"/>
            <a:ext cx="7493416" cy="4154984"/>
          </a:xfrm>
          <a:prstGeom prst="rect">
            <a:avLst/>
          </a:prstGeom>
          <a:noFill/>
        </p:spPr>
        <p:txBody>
          <a:bodyPr wrap="square" rtlCol="0">
            <a:spAutoFit/>
          </a:bodyPr>
          <a:lstStyle/>
          <a:p>
            <a:r>
              <a:rPr lang="en-US" sz="2400" dirty="0" smtClean="0">
                <a:latin typeface="SF Pro Display" panose="00000500000000000000" pitchFamily="50" charset="0"/>
                <a:ea typeface="SF Pro Display" panose="00000500000000000000" pitchFamily="50" charset="0"/>
              </a:rPr>
              <a:t>This project aims to develop a minimalistic file-sharing application, "AkiShare," enabling simple and secure transfer of files between devices using an encrypted, human-readable code to represent IP addresses and ports. The application converts IP addresses and port numbers into two-letter English word combinations to create an easy-to-share code, facilitating secure and accessible file sharing without requiring detailed technical knowledge from users. The system is implemented using Python with </a:t>
            </a:r>
            <a:r>
              <a:rPr lang="en-US" sz="2400" dirty="0" err="1" smtClean="0">
                <a:latin typeface="SF Pro Display" panose="00000500000000000000" pitchFamily="50" charset="0"/>
                <a:ea typeface="SF Pro Display" panose="00000500000000000000" pitchFamily="50" charset="0"/>
              </a:rPr>
              <a:t>Tkinter</a:t>
            </a:r>
            <a:r>
              <a:rPr lang="en-US" sz="2400" dirty="0" smtClean="0">
                <a:latin typeface="SF Pro Display" panose="00000500000000000000" pitchFamily="50" charset="0"/>
                <a:ea typeface="SF Pro Display" panose="00000500000000000000" pitchFamily="50" charset="0"/>
              </a:rPr>
              <a:t> for the GUI and sockets for networking.</a:t>
            </a:r>
            <a:endParaRPr lang="en-US" sz="2400" dirty="0">
              <a:latin typeface="SF Pro Display" panose="00000500000000000000" pitchFamily="50" charset="0"/>
              <a:ea typeface="SF Pro Display" panose="00000500000000000000" pitchFamily="50" charset="0"/>
            </a:endParaRPr>
          </a:p>
        </p:txBody>
      </p:sp>
      <p:pic>
        <p:nvPicPr>
          <p:cNvPr id="4" name="Picture 3"/>
          <p:cNvPicPr>
            <a:picLocks noChangeAspect="1"/>
          </p:cNvPicPr>
          <p:nvPr/>
        </p:nvPicPr>
        <p:blipFill rotWithShape="1">
          <a:blip r:embed="rId2"/>
          <a:srcRect l="3015" t="4892" r="4100" b="3823"/>
          <a:stretch/>
        </p:blipFill>
        <p:spPr>
          <a:xfrm>
            <a:off x="8985381" y="1996751"/>
            <a:ext cx="2397966" cy="3069771"/>
          </a:xfrm>
          <a:prstGeom prst="roundRect">
            <a:avLst>
              <a:gd name="adj" fmla="val 10673"/>
            </a:avLst>
          </a:prstGeom>
          <a:solidFill>
            <a:srgbClr val="FFFFFF"/>
          </a:solidFill>
          <a:ln w="76200" cap="sq">
            <a:solidFill>
              <a:srgbClr val="EAEAEA"/>
            </a:solidFill>
            <a:miter lim="800000"/>
          </a:ln>
          <a:effectLst>
            <a:reflection blurRad="6350" stA="50000" endA="275" endPos="40000" dist="1016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762846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p:cNvSpPr/>
          <p:nvPr/>
        </p:nvSpPr>
        <p:spPr>
          <a:xfrm>
            <a:off x="139958" y="1249699"/>
            <a:ext cx="12073815" cy="429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Methodology</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414745" y="1996751"/>
            <a:ext cx="7493416"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latin typeface="SF Pro Display" panose="00000500000000000000" pitchFamily="50" charset="0"/>
                <a:ea typeface="SF Pro Display" panose="00000500000000000000" pitchFamily="50" charset="0"/>
              </a:rPr>
              <a:t>A pre-defined list of two-letter combinations is mapped to each possible octet value in an IP address (0-255), and a limited number of port numbers (8000-8010) are mapped to unique characters.</a:t>
            </a:r>
          </a:p>
          <a:p>
            <a:pPr marL="342900" indent="-342900">
              <a:buFont typeface="Arial" panose="020B0604020202020204" pitchFamily="34" charset="0"/>
              <a:buChar char="•"/>
            </a:pPr>
            <a:r>
              <a:rPr lang="en-US" sz="2400" dirty="0" smtClean="0">
                <a:latin typeface="SF Pro Display" panose="00000500000000000000" pitchFamily="50" charset="0"/>
                <a:ea typeface="SF Pro Display" panose="00000500000000000000" pitchFamily="50" charset="0"/>
              </a:rPr>
              <a:t>This mapping allows conversion of IP addresses and ports into short, readable character codes for easy sharing.</a:t>
            </a:r>
          </a:p>
          <a:p>
            <a:pPr marL="342900" indent="-342900">
              <a:buFont typeface="Arial" panose="020B0604020202020204" pitchFamily="34" charset="0"/>
              <a:buChar char="•"/>
            </a:pPr>
            <a:r>
              <a:rPr lang="en-US" sz="2400" dirty="0" smtClean="0">
                <a:latin typeface="SF Pro Display" panose="00000500000000000000" pitchFamily="50" charset="0"/>
                <a:ea typeface="SF Pro Display" panose="00000500000000000000" pitchFamily="50" charset="0"/>
              </a:rPr>
              <a:t>Functions “</a:t>
            </a:r>
            <a:r>
              <a:rPr lang="en-US" sz="2400" dirty="0" err="1" smtClean="0">
                <a:latin typeface="SF Pro Display" panose="00000500000000000000" pitchFamily="50" charset="0"/>
                <a:ea typeface="SF Pro Display" panose="00000500000000000000" pitchFamily="50" charset="0"/>
              </a:rPr>
              <a:t>ip_to_characters</a:t>
            </a:r>
            <a:r>
              <a:rPr lang="en-US" sz="2400" dirty="0" smtClean="0">
                <a:latin typeface="SF Pro Display" panose="00000500000000000000" pitchFamily="50" charset="0"/>
                <a:ea typeface="SF Pro Display" panose="00000500000000000000" pitchFamily="50" charset="0"/>
              </a:rPr>
              <a:t>” and “</a:t>
            </a:r>
            <a:r>
              <a:rPr lang="en-US" sz="2400" dirty="0" err="1" smtClean="0">
                <a:latin typeface="SF Pro Display" panose="00000500000000000000" pitchFamily="50" charset="0"/>
                <a:ea typeface="SF Pro Display" panose="00000500000000000000" pitchFamily="50" charset="0"/>
              </a:rPr>
              <a:t>characters_to_ip</a:t>
            </a:r>
            <a:r>
              <a:rPr lang="en-US" sz="2400" dirty="0" smtClean="0">
                <a:latin typeface="SF Pro Display" panose="00000500000000000000" pitchFamily="50" charset="0"/>
                <a:ea typeface="SF Pro Display" panose="00000500000000000000" pitchFamily="50" charset="0"/>
              </a:rPr>
              <a:t>” handle the conversion between IP/port and the readable code.</a:t>
            </a:r>
            <a:endParaRPr lang="en-US" sz="2400" dirty="0">
              <a:latin typeface="SF Pro Display" panose="00000500000000000000" pitchFamily="50" charset="0"/>
              <a:ea typeface="SF Pro Display" panose="00000500000000000000" pitchFamily="50" charset="0"/>
            </a:endParaRPr>
          </a:p>
        </p:txBody>
      </p:sp>
      <p:pic>
        <p:nvPicPr>
          <p:cNvPr id="4" name="Picture 3"/>
          <p:cNvPicPr>
            <a:picLocks noChangeAspect="1"/>
          </p:cNvPicPr>
          <p:nvPr/>
        </p:nvPicPr>
        <p:blipFill rotWithShape="1">
          <a:blip r:embed="rId2"/>
          <a:srcRect l="3015" t="4892" r="4100" b="3823"/>
          <a:stretch/>
        </p:blipFill>
        <p:spPr>
          <a:xfrm>
            <a:off x="8985381" y="1996751"/>
            <a:ext cx="2397966" cy="3069771"/>
          </a:xfrm>
          <a:prstGeom prst="roundRect">
            <a:avLst>
              <a:gd name="adj" fmla="val 10673"/>
            </a:avLst>
          </a:prstGeom>
          <a:solidFill>
            <a:srgbClr val="FFFFFF"/>
          </a:solidFill>
          <a:ln w="76200" cap="sq">
            <a:solidFill>
              <a:srgbClr val="EAEAEA"/>
            </a:solidFill>
            <a:miter lim="800000"/>
          </a:ln>
          <a:effectLst>
            <a:reflection blurRad="6350" stA="50000" endA="275" endPos="40000" dist="1016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2" name="TextBox 11"/>
          <p:cNvSpPr txBox="1"/>
          <p:nvPr/>
        </p:nvSpPr>
        <p:spPr>
          <a:xfrm>
            <a:off x="139959" y="1231241"/>
            <a:ext cx="5589036"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IP &amp; Port Conversion</a:t>
            </a:r>
            <a:endParaRPr lang="en-US" sz="2400" b="1" dirty="0">
              <a:solidFill>
                <a:schemeClr val="bg1"/>
              </a:solidFill>
              <a:latin typeface="SF Pro Display" panose="00000500000000000000" pitchFamily="50" charset="0"/>
              <a:ea typeface="SF Pro Display" panose="00000500000000000000" pitchFamily="50" charset="0"/>
            </a:endParaRPr>
          </a:p>
        </p:txBody>
      </p:sp>
    </p:spTree>
    <p:extLst>
      <p:ext uri="{BB962C8B-B14F-4D97-AF65-F5344CB8AC3E}">
        <p14:creationId xmlns:p14="http://schemas.microsoft.com/office/powerpoint/2010/main" val="16490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p:cNvSpPr/>
          <p:nvPr/>
        </p:nvSpPr>
        <p:spPr>
          <a:xfrm>
            <a:off x="139958" y="1249699"/>
            <a:ext cx="12073815" cy="429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Methodology</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414745" y="1996751"/>
            <a:ext cx="7493416" cy="3785652"/>
          </a:xfrm>
          <a:prstGeom prst="rect">
            <a:avLst/>
          </a:prstGeom>
          <a:noFill/>
        </p:spPr>
        <p:txBody>
          <a:bodyPr wrap="square" rtlCol="0">
            <a:spAutoFit/>
          </a:bodyPr>
          <a:lstStyle/>
          <a:p>
            <a:pPr marL="342900" indent="-342900">
              <a:buFont typeface="Arial" panose="020B0604020202020204" pitchFamily="34" charset="0"/>
              <a:buChar char="•"/>
            </a:pPr>
            <a:r>
              <a:rPr lang="en-US" sz="2400" b="1" dirty="0" smtClean="0">
                <a:latin typeface="SF Pro Display" panose="00000500000000000000" pitchFamily="50" charset="0"/>
                <a:ea typeface="SF Pro Display" panose="00000500000000000000" pitchFamily="50" charset="0"/>
              </a:rPr>
              <a:t>Server-Side</a:t>
            </a:r>
            <a:r>
              <a:rPr lang="en-US" sz="2400" dirty="0" smtClean="0">
                <a:latin typeface="SF Pro Display" panose="00000500000000000000" pitchFamily="50" charset="0"/>
                <a:ea typeface="SF Pro Display" panose="00000500000000000000" pitchFamily="50" charset="0"/>
              </a:rPr>
              <a:t>: When a user selects a file, the application initiates a server on a random port within a defined range, listens for client connections, and sends the selected file in chunks.</a:t>
            </a:r>
          </a:p>
          <a:p>
            <a:endParaRPr lang="en-US" sz="2400" dirty="0" smtClean="0">
              <a:latin typeface="SF Pro Display" panose="00000500000000000000" pitchFamily="50" charset="0"/>
              <a:ea typeface="SF Pro Display" panose="00000500000000000000" pitchFamily="50" charset="0"/>
            </a:endParaRPr>
          </a:p>
          <a:p>
            <a:pPr marL="342900" indent="-342900">
              <a:buFont typeface="Arial" panose="020B0604020202020204" pitchFamily="34" charset="0"/>
              <a:buChar char="•"/>
            </a:pPr>
            <a:r>
              <a:rPr lang="en-US" sz="2400" b="1" dirty="0" smtClean="0">
                <a:latin typeface="SF Pro Display" panose="00000500000000000000" pitchFamily="50" charset="0"/>
                <a:ea typeface="SF Pro Display" panose="00000500000000000000" pitchFamily="50" charset="0"/>
              </a:rPr>
              <a:t>Client-Side</a:t>
            </a:r>
            <a:r>
              <a:rPr lang="en-US" sz="2400" dirty="0" smtClean="0">
                <a:latin typeface="SF Pro Display" panose="00000500000000000000" pitchFamily="50" charset="0"/>
                <a:ea typeface="SF Pro Display" panose="00000500000000000000" pitchFamily="50" charset="0"/>
              </a:rPr>
              <a:t>: The receiving user inputs the provided readable code, which is converted back to the original IP address and port. A socket connection is established to download the file, saving it to a user-specified location.</a:t>
            </a:r>
            <a:endParaRPr lang="en-US" sz="2400" dirty="0">
              <a:latin typeface="SF Pro Display" panose="00000500000000000000" pitchFamily="50" charset="0"/>
              <a:ea typeface="SF Pro Display" panose="00000500000000000000" pitchFamily="50" charset="0"/>
            </a:endParaRPr>
          </a:p>
        </p:txBody>
      </p:sp>
      <p:sp>
        <p:nvSpPr>
          <p:cNvPr id="12" name="TextBox 11"/>
          <p:cNvSpPr txBox="1"/>
          <p:nvPr/>
        </p:nvSpPr>
        <p:spPr>
          <a:xfrm>
            <a:off x="139959" y="1231241"/>
            <a:ext cx="5589036"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File Transmission</a:t>
            </a:r>
            <a:endParaRPr lang="en-US" sz="2400" b="1" dirty="0">
              <a:solidFill>
                <a:schemeClr val="bg1"/>
              </a:solidFill>
              <a:latin typeface="SF Pro Display" panose="00000500000000000000" pitchFamily="50" charset="0"/>
              <a:ea typeface="SF Pro Display" panose="00000500000000000000" pitchFamily="50" charset="0"/>
            </a:endParaRPr>
          </a:p>
        </p:txBody>
      </p:sp>
      <p:pic>
        <p:nvPicPr>
          <p:cNvPr id="5" name="Picture 4"/>
          <p:cNvPicPr>
            <a:picLocks noChangeAspect="1"/>
          </p:cNvPicPr>
          <p:nvPr/>
        </p:nvPicPr>
        <p:blipFill rotWithShape="1">
          <a:blip r:embed="rId2"/>
          <a:srcRect l="3301" t="5562" r="2061" b="4353"/>
          <a:stretch/>
        </p:blipFill>
        <p:spPr>
          <a:xfrm>
            <a:off x="9144000" y="1660844"/>
            <a:ext cx="2136710" cy="1390261"/>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pic>
        <p:nvPicPr>
          <p:cNvPr id="13" name="Picture 12"/>
          <p:cNvPicPr>
            <a:picLocks noChangeAspect="1"/>
          </p:cNvPicPr>
          <p:nvPr/>
        </p:nvPicPr>
        <p:blipFill rotWithShape="1">
          <a:blip r:embed="rId3"/>
          <a:srcRect l="1390" t="3253" r="3152" b="2759"/>
          <a:stretch/>
        </p:blipFill>
        <p:spPr>
          <a:xfrm>
            <a:off x="9112901" y="4450604"/>
            <a:ext cx="2258006" cy="1397462"/>
          </a:xfrm>
          <a:prstGeom prst="roundRect">
            <a:avLst>
              <a:gd name="adj" fmla="val 12980"/>
            </a:avLst>
          </a:prstGeom>
          <a:ln>
            <a:noFill/>
          </a:ln>
          <a:effectLst>
            <a:outerShdw blurRad="76200" dist="38100" dir="7800000" algn="tl" rotWithShape="0">
              <a:srgbClr val="000000">
                <a:alpha val="40000"/>
              </a:srgbClr>
            </a:outerShdw>
            <a:reflection blurRad="6350" stA="50000" endA="300" endPos="55500" dist="508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471875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p:cNvSpPr/>
          <p:nvPr/>
        </p:nvSpPr>
        <p:spPr>
          <a:xfrm>
            <a:off x="139958" y="1249699"/>
            <a:ext cx="12073815" cy="429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Methodology</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414745" y="1996751"/>
            <a:ext cx="7493416"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latin typeface="SF Pro Display" panose="00000500000000000000" pitchFamily="50" charset="0"/>
                <a:ea typeface="SF Pro Display" panose="00000500000000000000" pitchFamily="50" charset="0"/>
              </a:rPr>
              <a:t>A GUI is built using </a:t>
            </a:r>
            <a:r>
              <a:rPr lang="en-US" sz="2400" dirty="0" err="1" smtClean="0">
                <a:latin typeface="SF Pro Display" panose="00000500000000000000" pitchFamily="50" charset="0"/>
                <a:ea typeface="SF Pro Display" panose="00000500000000000000" pitchFamily="50" charset="0"/>
              </a:rPr>
              <a:t>Tkinter</a:t>
            </a:r>
            <a:r>
              <a:rPr lang="en-US" sz="2400" dirty="0" smtClean="0">
                <a:latin typeface="SF Pro Display" panose="00000500000000000000" pitchFamily="50" charset="0"/>
                <a:ea typeface="SF Pro Display" panose="00000500000000000000" pitchFamily="50" charset="0"/>
              </a:rPr>
              <a:t>, with options for sending a file, receiving a file, and quitting the application.</a:t>
            </a:r>
          </a:p>
          <a:p>
            <a:endParaRPr lang="en-US" sz="2400" dirty="0" smtClean="0">
              <a:latin typeface="SF Pro Display" panose="00000500000000000000" pitchFamily="50" charset="0"/>
              <a:ea typeface="SF Pro Display" panose="00000500000000000000" pitchFamily="50" charset="0"/>
            </a:endParaRPr>
          </a:p>
          <a:p>
            <a:pPr marL="342900" indent="-342900">
              <a:buFont typeface="Arial" panose="020B0604020202020204" pitchFamily="34" charset="0"/>
              <a:buChar char="•"/>
            </a:pPr>
            <a:r>
              <a:rPr lang="en-US" sz="2400" dirty="0" smtClean="0">
                <a:latin typeface="SF Pro Display" panose="00000500000000000000" pitchFamily="50" charset="0"/>
                <a:ea typeface="SF Pro Display" panose="00000500000000000000" pitchFamily="50" charset="0"/>
              </a:rPr>
              <a:t>Message boxes and file dialogs provide user-friendly interactions for file selection, displaying codes, and confirming downloads.</a:t>
            </a:r>
            <a:endParaRPr lang="en-US" sz="2400" dirty="0">
              <a:latin typeface="SF Pro Display" panose="00000500000000000000" pitchFamily="50" charset="0"/>
              <a:ea typeface="SF Pro Display" panose="00000500000000000000" pitchFamily="50" charset="0"/>
            </a:endParaRPr>
          </a:p>
        </p:txBody>
      </p:sp>
      <p:sp>
        <p:nvSpPr>
          <p:cNvPr id="12" name="TextBox 11"/>
          <p:cNvSpPr txBox="1"/>
          <p:nvPr/>
        </p:nvSpPr>
        <p:spPr>
          <a:xfrm>
            <a:off x="139959" y="1231241"/>
            <a:ext cx="5589036"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User Interface</a:t>
            </a:r>
            <a:endParaRPr lang="en-US" sz="2400" b="1" dirty="0">
              <a:solidFill>
                <a:schemeClr val="bg1"/>
              </a:solidFill>
              <a:latin typeface="SF Pro Display" panose="00000500000000000000" pitchFamily="50" charset="0"/>
              <a:ea typeface="SF Pro Display" panose="00000500000000000000" pitchFamily="50" charset="0"/>
            </a:endParaRPr>
          </a:p>
        </p:txBody>
      </p:sp>
      <p:pic>
        <p:nvPicPr>
          <p:cNvPr id="5" name="Picture 4"/>
          <p:cNvPicPr>
            <a:picLocks noChangeAspect="1"/>
          </p:cNvPicPr>
          <p:nvPr/>
        </p:nvPicPr>
        <p:blipFill rotWithShape="1">
          <a:blip r:embed="rId2"/>
          <a:srcRect l="3301" t="5562" r="2061" b="4353"/>
          <a:stretch/>
        </p:blipFill>
        <p:spPr>
          <a:xfrm>
            <a:off x="9144000" y="2743199"/>
            <a:ext cx="2136710" cy="1390261"/>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16845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p:cNvSpPr/>
          <p:nvPr/>
        </p:nvSpPr>
        <p:spPr>
          <a:xfrm>
            <a:off x="139958" y="1249699"/>
            <a:ext cx="12073815" cy="429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Discussion</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330770" y="1551344"/>
            <a:ext cx="7493416" cy="4893647"/>
          </a:xfrm>
          <a:prstGeom prst="rect">
            <a:avLst/>
          </a:prstGeom>
          <a:noFill/>
        </p:spPr>
        <p:txBody>
          <a:bodyPr wrap="square" rtlCol="0">
            <a:spAutoFit/>
          </a:bodyPr>
          <a:lstStyle/>
          <a:p>
            <a:endParaRPr lang="en-US" sz="2400" dirty="0" smtClean="0">
              <a:latin typeface="SF Pro Display" panose="00000500000000000000" pitchFamily="50" charset="0"/>
              <a:ea typeface="SF Pro Display" panose="00000500000000000000" pitchFamily="50" charset="0"/>
            </a:endParaRPr>
          </a:p>
          <a:p>
            <a:pPr marL="342900" indent="-34290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User-Friendly Interface</a:t>
            </a:r>
            <a:r>
              <a:rPr lang="en-US" dirty="0" smtClean="0">
                <a:latin typeface="SF Pro Display" panose="00000500000000000000" pitchFamily="50" charset="0"/>
                <a:ea typeface="SF Pro Display" panose="00000500000000000000" pitchFamily="50" charset="0"/>
              </a:rPr>
              <a:t>: The GUI, created with </a:t>
            </a:r>
            <a:r>
              <a:rPr lang="en-US" dirty="0" err="1" smtClean="0">
                <a:latin typeface="SF Pro Display" panose="00000500000000000000" pitchFamily="50" charset="0"/>
                <a:ea typeface="SF Pro Display" panose="00000500000000000000" pitchFamily="50" charset="0"/>
              </a:rPr>
              <a:t>Tkinter</a:t>
            </a:r>
            <a:r>
              <a:rPr lang="en-US" dirty="0" smtClean="0">
                <a:latin typeface="SF Pro Display" panose="00000500000000000000" pitchFamily="50" charset="0"/>
                <a:ea typeface="SF Pro Display" panose="00000500000000000000" pitchFamily="50" charset="0"/>
              </a:rPr>
              <a:t>, is simple and intuitive, allowing users with minimal technical knowledge to easily share and receive files.</a:t>
            </a:r>
          </a:p>
          <a:p>
            <a:pPr marL="342900" indent="-34290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IP and Port Abstraction </a:t>
            </a:r>
            <a:r>
              <a:rPr lang="en-US" dirty="0" smtClean="0">
                <a:latin typeface="SF Pro Display" panose="00000500000000000000" pitchFamily="50" charset="0"/>
                <a:ea typeface="SF Pro Display" panose="00000500000000000000" pitchFamily="50" charset="0"/>
              </a:rPr>
              <a:t>: By converting IP addresses and ports to readable two-letter codes, AkiShare makes sharing connection details easier and more accessible for users who may not be familiar with IP addresses or port numbers.</a:t>
            </a:r>
          </a:p>
          <a:p>
            <a:pPr marL="342900" indent="-34290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Local Network File Transfer </a:t>
            </a:r>
            <a:r>
              <a:rPr lang="en-US" dirty="0" smtClean="0">
                <a:latin typeface="SF Pro Display" panose="00000500000000000000" pitchFamily="50" charset="0"/>
                <a:ea typeface="SF Pro Display" panose="00000500000000000000" pitchFamily="50" charset="0"/>
              </a:rPr>
              <a:t>: AkiShare provides a fast and reliable way to transfer files over a local network without needing to rely on external servers, making it suitable for quick, private transfers within a secure network.</a:t>
            </a:r>
          </a:p>
          <a:p>
            <a:pPr marL="342900" indent="-34290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Lightweight and Portable </a:t>
            </a:r>
            <a:r>
              <a:rPr lang="en-US" dirty="0" smtClean="0">
                <a:latin typeface="SF Pro Display" panose="00000500000000000000" pitchFamily="50" charset="0"/>
                <a:ea typeface="SF Pro Display" panose="00000500000000000000" pitchFamily="50" charset="0"/>
              </a:rPr>
              <a:t>: The application is implemented entirely in Python, making it lightweight and compatible with multiple platforms where Python is supported.</a:t>
            </a:r>
          </a:p>
          <a:p>
            <a:pPr marL="342900" indent="-34290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Offline and Secure </a:t>
            </a:r>
            <a:r>
              <a:rPr lang="en-US" dirty="0" smtClean="0">
                <a:latin typeface="SF Pro Display" panose="00000500000000000000" pitchFamily="50" charset="0"/>
                <a:ea typeface="SF Pro Display" panose="00000500000000000000" pitchFamily="50" charset="0"/>
              </a:rPr>
              <a:t>: Because it doesn’t require an internet connection, file transfers are more private, reducing exposure to online security risks.</a:t>
            </a:r>
            <a:endParaRPr lang="en-US" dirty="0">
              <a:latin typeface="SF Pro Display" panose="00000500000000000000" pitchFamily="50" charset="0"/>
              <a:ea typeface="SF Pro Display" panose="00000500000000000000" pitchFamily="50" charset="0"/>
            </a:endParaRPr>
          </a:p>
        </p:txBody>
      </p:sp>
      <p:sp>
        <p:nvSpPr>
          <p:cNvPr id="12" name="TextBox 11"/>
          <p:cNvSpPr txBox="1"/>
          <p:nvPr/>
        </p:nvSpPr>
        <p:spPr>
          <a:xfrm>
            <a:off x="139959" y="1231241"/>
            <a:ext cx="5589036"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Advantages</a:t>
            </a:r>
            <a:endParaRPr lang="en-US" sz="2400" b="1" dirty="0">
              <a:solidFill>
                <a:schemeClr val="bg1"/>
              </a:solidFill>
              <a:latin typeface="SF Pro Display" panose="00000500000000000000" pitchFamily="50" charset="0"/>
              <a:ea typeface="SF Pro Display" panose="00000500000000000000" pitchFamily="50" charset="0"/>
            </a:endParaRPr>
          </a:p>
        </p:txBody>
      </p:sp>
      <p:pic>
        <p:nvPicPr>
          <p:cNvPr id="5" name="Picture 4"/>
          <p:cNvPicPr>
            <a:picLocks noChangeAspect="1"/>
          </p:cNvPicPr>
          <p:nvPr/>
        </p:nvPicPr>
        <p:blipFill rotWithShape="1">
          <a:blip r:embed="rId2"/>
          <a:srcRect l="3301" t="5562" r="2061" b="4353"/>
          <a:stretch/>
        </p:blipFill>
        <p:spPr>
          <a:xfrm>
            <a:off x="9144000" y="2743199"/>
            <a:ext cx="2136710" cy="1390261"/>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84183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p:cNvSpPr/>
          <p:nvPr/>
        </p:nvSpPr>
        <p:spPr>
          <a:xfrm>
            <a:off x="139958" y="1249699"/>
            <a:ext cx="12073815" cy="429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Discussion</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330770" y="1748892"/>
            <a:ext cx="7684226"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Limited Security </a:t>
            </a:r>
            <a:r>
              <a:rPr lang="en-US" dirty="0" smtClean="0">
                <a:latin typeface="SF Pro Display" panose="00000500000000000000" pitchFamily="50" charset="0"/>
                <a:ea typeface="SF Pro Display" panose="00000500000000000000" pitchFamily="50" charset="0"/>
              </a:rPr>
              <a:t>: The readable code is a convenient representation but does not offer encryption or additional security measures for file contents. Sensitive files are vulnerable to interception if the network isn’t secure.</a:t>
            </a:r>
          </a:p>
          <a:p>
            <a:pPr marL="285750" indent="-28575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Limited Port Range </a:t>
            </a:r>
            <a:r>
              <a:rPr lang="en-US" dirty="0" smtClean="0">
                <a:latin typeface="SF Pro Display" panose="00000500000000000000" pitchFamily="50" charset="0"/>
                <a:ea typeface="SF Pro Display" panose="00000500000000000000" pitchFamily="50" charset="0"/>
              </a:rPr>
              <a:t>: The application currently only maps 11 port numbers (8000–8010) to characters. This restricts scalability and limits the number of concurrent file transfers that can take place on the same network without port conflicts.</a:t>
            </a:r>
          </a:p>
          <a:p>
            <a:pPr marL="285750" indent="-28575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Basic Error Handling </a:t>
            </a:r>
            <a:r>
              <a:rPr lang="en-US" dirty="0" smtClean="0">
                <a:latin typeface="SF Pro Display" panose="00000500000000000000" pitchFamily="50" charset="0"/>
                <a:ea typeface="SF Pro Display" panose="00000500000000000000" pitchFamily="50" charset="0"/>
              </a:rPr>
              <a:t>: The application would benefit from enhanced error handling to manage network failures, incomplete file transfers, or incorrect input codes. Currently, limited error handling may result in unexpected behavior if connectivity is disrupted.</a:t>
            </a:r>
          </a:p>
          <a:p>
            <a:pPr marL="285750" indent="-28575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No File Type Filtering or Size Limitation </a:t>
            </a:r>
            <a:r>
              <a:rPr lang="en-US" dirty="0" smtClean="0">
                <a:latin typeface="SF Pro Display" panose="00000500000000000000" pitchFamily="50" charset="0"/>
                <a:ea typeface="SF Pro Display" panose="00000500000000000000" pitchFamily="50" charset="0"/>
              </a:rPr>
              <a:t>: The application does not impose restrictions on file type or size, which could lead to issues if users try to send large files over limited bandwidth or incompatible file formats.</a:t>
            </a:r>
          </a:p>
          <a:p>
            <a:pPr marL="285750" indent="-285750">
              <a:buFont typeface="Arial" panose="020B0604020202020204" pitchFamily="34" charset="0"/>
              <a:buChar char="•"/>
            </a:pPr>
            <a:r>
              <a:rPr lang="en-US" b="1" dirty="0" smtClean="0">
                <a:latin typeface="SF Pro Display" panose="00000500000000000000" pitchFamily="50" charset="0"/>
                <a:ea typeface="SF Pro Display" panose="00000500000000000000" pitchFamily="50" charset="0"/>
              </a:rPr>
              <a:t>No Automated Device Discovery </a:t>
            </a:r>
            <a:r>
              <a:rPr lang="en-US" dirty="0" smtClean="0">
                <a:latin typeface="SF Pro Display" panose="00000500000000000000" pitchFamily="50" charset="0"/>
                <a:ea typeface="SF Pro Display" panose="00000500000000000000" pitchFamily="50" charset="0"/>
              </a:rPr>
              <a:t>: Users must manually share and input IP codes, as there’s no built-in network discovery. This could be cumbersome in environments where users are not familiar with networking concepts.</a:t>
            </a:r>
            <a:endParaRPr lang="en-US" dirty="0">
              <a:latin typeface="SF Pro Display" panose="00000500000000000000" pitchFamily="50" charset="0"/>
              <a:ea typeface="SF Pro Display" panose="00000500000000000000" pitchFamily="50" charset="0"/>
            </a:endParaRPr>
          </a:p>
        </p:txBody>
      </p:sp>
      <p:sp>
        <p:nvSpPr>
          <p:cNvPr id="12" name="TextBox 11"/>
          <p:cNvSpPr txBox="1"/>
          <p:nvPr/>
        </p:nvSpPr>
        <p:spPr>
          <a:xfrm>
            <a:off x="139959" y="1231241"/>
            <a:ext cx="5589036" cy="461665"/>
          </a:xfrm>
          <a:prstGeom prst="rect">
            <a:avLst/>
          </a:prstGeom>
          <a:noFill/>
        </p:spPr>
        <p:txBody>
          <a:bodyPr wrap="square" rtlCol="0">
            <a:spAutoFit/>
          </a:bodyPr>
          <a:lstStyle/>
          <a:p>
            <a:r>
              <a:rPr lang="en-US" sz="2400" b="1" dirty="0" smtClean="0">
                <a:solidFill>
                  <a:schemeClr val="bg1"/>
                </a:solidFill>
                <a:latin typeface="SF Pro Display" panose="00000500000000000000" pitchFamily="50" charset="0"/>
                <a:ea typeface="SF Pro Display" panose="00000500000000000000" pitchFamily="50" charset="0"/>
              </a:rPr>
              <a:t>Disadvantages</a:t>
            </a:r>
            <a:endParaRPr lang="en-US" sz="2400" b="1" dirty="0">
              <a:solidFill>
                <a:schemeClr val="bg1"/>
              </a:solidFill>
              <a:latin typeface="SF Pro Display" panose="00000500000000000000" pitchFamily="50" charset="0"/>
              <a:ea typeface="SF Pro Display" panose="00000500000000000000" pitchFamily="50" charset="0"/>
            </a:endParaRPr>
          </a:p>
        </p:txBody>
      </p:sp>
      <p:pic>
        <p:nvPicPr>
          <p:cNvPr id="5" name="Picture 4"/>
          <p:cNvPicPr>
            <a:picLocks noChangeAspect="1"/>
          </p:cNvPicPr>
          <p:nvPr/>
        </p:nvPicPr>
        <p:blipFill rotWithShape="1">
          <a:blip r:embed="rId2"/>
          <a:srcRect l="3301" t="5562" r="2061" b="4353"/>
          <a:stretch/>
        </p:blipFill>
        <p:spPr>
          <a:xfrm>
            <a:off x="9144000" y="2743199"/>
            <a:ext cx="2136710" cy="1390261"/>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512652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959" y="0"/>
            <a:ext cx="8042988"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8" name="Rectangle 7"/>
          <p:cNvSpPr/>
          <p:nvPr/>
        </p:nvSpPr>
        <p:spPr>
          <a:xfrm>
            <a:off x="8322907" y="0"/>
            <a:ext cx="3750906" cy="685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Rectangle 5"/>
          <p:cNvSpPr/>
          <p:nvPr/>
        </p:nvSpPr>
        <p:spPr>
          <a:xfrm>
            <a:off x="0" y="289249"/>
            <a:ext cx="12192000" cy="849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9959" y="251925"/>
            <a:ext cx="5589036" cy="923330"/>
          </a:xfrm>
          <a:prstGeom prst="rect">
            <a:avLst/>
          </a:prstGeom>
          <a:noFill/>
        </p:spPr>
        <p:txBody>
          <a:bodyPr wrap="square" rtlCol="0">
            <a:spAutoFit/>
          </a:bodyPr>
          <a:lstStyle/>
          <a:p>
            <a:r>
              <a:rPr lang="en-US" sz="5400" b="1" dirty="0" smtClean="0">
                <a:solidFill>
                  <a:schemeClr val="bg1"/>
                </a:solidFill>
                <a:latin typeface="SF Pro Display" panose="00000500000000000000" pitchFamily="50" charset="0"/>
                <a:ea typeface="SF Pro Display" panose="00000500000000000000" pitchFamily="50" charset="0"/>
              </a:rPr>
              <a:t>Conclusion</a:t>
            </a:r>
            <a:endParaRPr lang="en-US" sz="5400" b="1" dirty="0">
              <a:solidFill>
                <a:schemeClr val="bg1"/>
              </a:solidFill>
              <a:latin typeface="SF Pro Display" panose="00000500000000000000" pitchFamily="50" charset="0"/>
              <a:ea typeface="SF Pro Display" panose="00000500000000000000" pitchFamily="50" charset="0"/>
            </a:endParaRPr>
          </a:p>
        </p:txBody>
      </p:sp>
      <p:sp>
        <p:nvSpPr>
          <p:cNvPr id="3" name="TextBox 2"/>
          <p:cNvSpPr txBox="1"/>
          <p:nvPr/>
        </p:nvSpPr>
        <p:spPr>
          <a:xfrm flipH="1">
            <a:off x="414745" y="1427584"/>
            <a:ext cx="7493416" cy="3416320"/>
          </a:xfrm>
          <a:prstGeom prst="rect">
            <a:avLst/>
          </a:prstGeom>
          <a:noFill/>
        </p:spPr>
        <p:txBody>
          <a:bodyPr wrap="square" rtlCol="0">
            <a:spAutoFit/>
          </a:bodyPr>
          <a:lstStyle/>
          <a:p>
            <a:r>
              <a:rPr lang="en-US" sz="2400" b="1" dirty="0" smtClean="0">
                <a:latin typeface="SF Pro Display" panose="00000500000000000000" pitchFamily="50" charset="0"/>
                <a:ea typeface="SF Pro Display" panose="00000500000000000000" pitchFamily="50" charset="0"/>
              </a:rPr>
              <a:t>AkiShare</a:t>
            </a:r>
            <a:r>
              <a:rPr lang="en-US" sz="2400" dirty="0" smtClean="0">
                <a:latin typeface="SF Pro Display" panose="00000500000000000000" pitchFamily="50" charset="0"/>
                <a:ea typeface="SF Pro Display" panose="00000500000000000000" pitchFamily="50" charset="0"/>
              </a:rPr>
              <a:t> is effective for simple, secure local file transfers, making it ideal for environments where users prioritize ease of use and local security. However, its limitations in security, scalability, and remote capabilities suggest that it is best suited for low-risk, small-scale sharing. To make AkiShare more versatile, future versions could focus on enhancing security, extending the port mapping, and adding support for encrypted remote file transfers.</a:t>
            </a:r>
            <a:endParaRPr lang="en-US" sz="2400" dirty="0">
              <a:latin typeface="SF Pro Display" panose="00000500000000000000" pitchFamily="50" charset="0"/>
              <a:ea typeface="SF Pro Display" panose="00000500000000000000" pitchFamily="50" charset="0"/>
            </a:endParaRPr>
          </a:p>
        </p:txBody>
      </p:sp>
      <p:pic>
        <p:nvPicPr>
          <p:cNvPr id="4" name="Picture 3"/>
          <p:cNvPicPr>
            <a:picLocks noChangeAspect="1"/>
          </p:cNvPicPr>
          <p:nvPr/>
        </p:nvPicPr>
        <p:blipFill rotWithShape="1">
          <a:blip r:embed="rId2"/>
          <a:srcRect l="3015" t="4892" r="4100" b="3823"/>
          <a:stretch/>
        </p:blipFill>
        <p:spPr>
          <a:xfrm>
            <a:off x="9349274" y="1427584"/>
            <a:ext cx="2118047" cy="2711430"/>
          </a:xfrm>
          <a:prstGeom prst="roundRect">
            <a:avLst>
              <a:gd name="adj" fmla="val 10673"/>
            </a:avLst>
          </a:prstGeom>
          <a:solidFill>
            <a:srgbClr val="FFFFFF"/>
          </a:solidFill>
          <a:ln w="76200" cap="sq">
            <a:solidFill>
              <a:srgbClr val="EAEAEA"/>
            </a:solidFill>
            <a:miter lim="800000"/>
          </a:ln>
          <a:effectLst>
            <a:reflection blurRad="6350" stA="50000" endA="275" endPos="40000" dist="1016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 name="Picture 9"/>
          <p:cNvPicPr>
            <a:picLocks noChangeAspect="1"/>
          </p:cNvPicPr>
          <p:nvPr/>
        </p:nvPicPr>
        <p:blipFill rotWithShape="1">
          <a:blip r:embed="rId3"/>
          <a:srcRect l="3301" t="5562" r="2061" b="4353"/>
          <a:stretch/>
        </p:blipFill>
        <p:spPr>
          <a:xfrm>
            <a:off x="8656421" y="3782004"/>
            <a:ext cx="1541939" cy="1003270"/>
          </a:xfrm>
          <a:prstGeom prst="roundRect">
            <a:avLst>
              <a:gd name="adj" fmla="val 8613"/>
            </a:avLst>
          </a:prstGeom>
          <a:ln>
            <a:noFill/>
          </a:ln>
          <a:effectLst>
            <a:outerShdw blurRad="76200" dist="38100" dir="7800000" algn="tl" rotWithShape="0">
              <a:srgbClr val="000000">
                <a:alpha val="40000"/>
              </a:srgbClr>
            </a:outerShdw>
            <a:reflection blurRad="6350" stA="50000" endA="300" endPos="555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p:cNvPicPr>
            <a:picLocks noChangeAspect="1"/>
          </p:cNvPicPr>
          <p:nvPr/>
        </p:nvPicPr>
        <p:blipFill rotWithShape="1">
          <a:blip r:embed="rId4"/>
          <a:srcRect l="1390" t="3253" r="3152" b="2759"/>
          <a:stretch/>
        </p:blipFill>
        <p:spPr>
          <a:xfrm>
            <a:off x="9647853" y="4428263"/>
            <a:ext cx="2175760" cy="1346560"/>
          </a:xfrm>
          <a:prstGeom prst="roundRect">
            <a:avLst>
              <a:gd name="adj" fmla="val 12980"/>
            </a:avLst>
          </a:prstGeom>
          <a:ln>
            <a:noFill/>
          </a:ln>
          <a:effectLst>
            <a:outerShdw blurRad="76200" dist="38100" dir="7800000" algn="tl" rotWithShape="0">
              <a:srgbClr val="000000">
                <a:alpha val="40000"/>
              </a:srgbClr>
            </a:outerShdw>
            <a:reflection blurRad="6350" stA="50000" endA="300" endPos="55500" dist="508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84557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740</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Calibri Light</vt:lpstr>
      <vt:lpstr>Arial</vt:lpstr>
      <vt:lpstr>SF Pro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laptopseller1433@hotmail.com</dc:creator>
  <cp:lastModifiedBy>laptopseller1433@hotmail.com</cp:lastModifiedBy>
  <cp:revision>10</cp:revision>
  <dcterms:created xsi:type="dcterms:W3CDTF">2024-10-30T06:44:54Z</dcterms:created>
  <dcterms:modified xsi:type="dcterms:W3CDTF">2024-11-03T12:16:45Z</dcterms:modified>
</cp:coreProperties>
</file>